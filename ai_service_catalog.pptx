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0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1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-1905000"/>
            <a:ext cx="6667500" cy="6667500"/>
          </a:xfrm>
          <a:prstGeom prst="rect">
            <a:avLst/>
          </a:prstGeom>
        </p:spPr>
      </p:pic>
      <p:pic>
        <p:nvPicPr>
          <p:cNvPr id="4" name="Picture 3" descr="visual_element_slide_01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857500"/>
            <a:ext cx="2857500" cy="2857500"/>
          </a:xfrm>
          <a:prstGeom prst="rect">
            <a:avLst/>
          </a:prstGeom>
        </p:spPr>
      </p:pic>
      <p:pic>
        <p:nvPicPr>
          <p:cNvPr id="5" name="Picture 4" descr="visual_element_slide_01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6953250"/>
            <a:ext cx="4762500" cy="4762500"/>
          </a:xfrm>
          <a:prstGeom prst="rect">
            <a:avLst/>
          </a:prstGeom>
        </p:spPr>
      </p:pic>
      <p:pic>
        <p:nvPicPr>
          <p:cNvPr id="6" name="Picture 5" descr="visual_element_slide_01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2841402"/>
            <a:ext cx="3800475" cy="409575"/>
          </a:xfrm>
          <a:prstGeom prst="rect">
            <a:avLst/>
          </a:prstGeom>
        </p:spPr>
      </p:pic>
      <p:pic>
        <p:nvPicPr>
          <p:cNvPr id="7" name="Picture 6" descr="visual_element_slide_01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9750" y="3333750"/>
            <a:ext cx="3619500" cy="3619500"/>
          </a:xfrm>
          <a:prstGeom prst="rect">
            <a:avLst/>
          </a:prstGeom>
        </p:spPr>
      </p:pic>
      <p:pic>
        <p:nvPicPr>
          <p:cNvPr id="8" name="Picture 7" descr="visual_element_slide_01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0" y="3810000"/>
            <a:ext cx="2667000" cy="2667000"/>
          </a:xfrm>
          <a:prstGeom prst="rect">
            <a:avLst/>
          </a:prstGeom>
        </p:spPr>
      </p:pic>
      <p:pic>
        <p:nvPicPr>
          <p:cNvPr id="9" name="Picture 8" descr="visual_element_slide_0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00" y="4381500"/>
            <a:ext cx="1524000" cy="1524000"/>
          </a:xfrm>
          <a:prstGeom prst="rect">
            <a:avLst/>
          </a:prstGeom>
        </p:spPr>
      </p:pic>
      <p:pic>
        <p:nvPicPr>
          <p:cNvPr id="10" name="Picture 9" descr="visual_element_slide_01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2125" y="3008090"/>
            <a:ext cx="76200" cy="76200"/>
          </a:xfrm>
          <a:prstGeom prst="rect">
            <a:avLst/>
          </a:prstGeom>
        </p:spPr>
      </p:pic>
      <p:pic>
        <p:nvPicPr>
          <p:cNvPr id="11" name="Picture 10" descr="visual_element_slide_0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82825" y="3448050"/>
            <a:ext cx="133350" cy="133350"/>
          </a:xfrm>
          <a:prstGeom prst="rect">
            <a:avLst/>
          </a:prstGeom>
        </p:spPr>
      </p:pic>
      <p:pic>
        <p:nvPicPr>
          <p:cNvPr id="12" name="Picture 11" descr="visual_element_slide_01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54050" y="5076825"/>
            <a:ext cx="133350" cy="133350"/>
          </a:xfrm>
          <a:prstGeom prst="rect">
            <a:avLst/>
          </a:prstGeom>
        </p:spPr>
      </p:pic>
      <p:pic>
        <p:nvPicPr>
          <p:cNvPr id="13" name="Picture 12" descr="visual_element_slide_0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11600" y="5076825"/>
            <a:ext cx="133350" cy="133350"/>
          </a:xfrm>
          <a:prstGeom prst="rect">
            <a:avLst/>
          </a:prstGeom>
        </p:spPr>
      </p:pic>
      <p:pic>
        <p:nvPicPr>
          <p:cNvPr id="14" name="Picture 13" descr="visual_element_slide_01_0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82825" y="6705600"/>
            <a:ext cx="133350" cy="133350"/>
          </a:xfrm>
          <a:prstGeom prst="rect">
            <a:avLst/>
          </a:prstGeom>
        </p:spPr>
      </p:pic>
      <p:pic>
        <p:nvPicPr>
          <p:cNvPr id="15" name="Picture 14" descr="visual_element_slide_01_0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7045547"/>
            <a:ext cx="1581150" cy="400050"/>
          </a:xfrm>
          <a:prstGeom prst="rect">
            <a:avLst/>
          </a:prstGeom>
        </p:spPr>
      </p:pic>
      <p:pic>
        <p:nvPicPr>
          <p:cNvPr id="16" name="Picture 15" descr="visual_element_slide_01_0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57550" y="7045547"/>
            <a:ext cx="1790700" cy="400050"/>
          </a:xfrm>
          <a:prstGeom prst="rect">
            <a:avLst/>
          </a:prstGeom>
        </p:spPr>
      </p:pic>
      <p:pic>
        <p:nvPicPr>
          <p:cNvPr id="17" name="Picture 16" descr="visual_element_slide_01_0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0650" y="7045547"/>
            <a:ext cx="2571750" cy="400050"/>
          </a:xfrm>
          <a:prstGeom prst="rect">
            <a:avLst/>
          </a:prstGeom>
        </p:spPr>
      </p:pic>
      <p:pic>
        <p:nvPicPr>
          <p:cNvPr id="18" name="Picture 17" descr="visual_element_slide_01_0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24799" y="7045547"/>
            <a:ext cx="160020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33575" y="2946177"/>
            <a:ext cx="353377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00D4FF"/>
                </a:solidFill>
                <a:latin typeface="Inter"/>
              </a:defRPr>
            </a:pPr>
            <a:r>
              <a:t>INTERNAL TOOLING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3527202"/>
            <a:ext cx="5610225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FFFFFF"/>
                </a:solidFill>
                <a:latin typeface="Inter"/>
              </a:defRPr>
            </a:pPr>
            <a:r>
              <a:t>AI-Powered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4407217"/>
            <a:ext cx="7315200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00D4FF"/>
                </a:solidFill>
                <a:latin typeface="Inter"/>
              </a:defRPr>
            </a:pPr>
            <a:r>
              <a:t>Service 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20875" y="4724400"/>
            <a:ext cx="13716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000000"/>
                </a:solidFill>
                <a:latin typeface="Inter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" y="5668232"/>
            <a:ext cx="7981949" cy="7505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Inter"/>
              </a:defRPr>
            </a:pPr>
            <a:r>
              <a:t>Grounded, offline AI answers from your own documentation — zero data exposure, zero cloud dependency.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3075" y="7150322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🔒 Fully Offline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6625" y="7150322"/>
            <a:ext cx="17335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🧠 RAG-Powered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9725" y="7150322"/>
            <a:ext cx="2514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📋 SEPA Payment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875" y="7150322"/>
            <a:ext cx="15430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🛡️ Air-Gapped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9715500"/>
            <a:ext cx="35909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Payments Engineering  |  Internal Tooling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2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2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095499"/>
            <a:ext cx="5207031" cy="3906869"/>
          </a:xfrm>
          <a:prstGeom prst="rect">
            <a:avLst/>
          </a:prstGeom>
        </p:spPr>
      </p:pic>
      <p:pic>
        <p:nvPicPr>
          <p:cNvPr id="5" name="Picture 4" descr="visual_element_slide_02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31" y="2095499"/>
            <a:ext cx="5207031" cy="3906869"/>
          </a:xfrm>
          <a:prstGeom prst="rect">
            <a:avLst/>
          </a:prstGeom>
        </p:spPr>
      </p:pic>
      <p:pic>
        <p:nvPicPr>
          <p:cNvPr id="6" name="Picture 5" descr="visual_element_slide_02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8563" y="2095499"/>
            <a:ext cx="5207031" cy="3906869"/>
          </a:xfrm>
          <a:prstGeom prst="rect">
            <a:avLst/>
          </a:prstGeom>
        </p:spPr>
      </p:pic>
      <p:pic>
        <p:nvPicPr>
          <p:cNvPr id="7" name="Picture 6" descr="visual_element_slide_02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3025" y="5049869"/>
            <a:ext cx="4425981" cy="485775"/>
          </a:xfrm>
          <a:prstGeom prst="rect">
            <a:avLst/>
          </a:prstGeom>
        </p:spPr>
      </p:pic>
      <p:pic>
        <p:nvPicPr>
          <p:cNvPr id="8" name="Picture 7" descr="visual_element_slide_02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056" y="5049869"/>
            <a:ext cx="4425981" cy="485775"/>
          </a:xfrm>
          <a:prstGeom prst="rect">
            <a:avLst/>
          </a:prstGeom>
        </p:spPr>
      </p:pic>
      <p:pic>
        <p:nvPicPr>
          <p:cNvPr id="9" name="Picture 8" descr="visual_element_slide_02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9088" y="5049869"/>
            <a:ext cx="4425981" cy="485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666750"/>
            <a:ext cx="15716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D4FF"/>
                </a:solidFill>
                <a:latin typeface="Inter"/>
              </a:defRPr>
            </a:pPr>
            <a: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933449"/>
            <a:ext cx="177165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Inter"/>
              </a:defRPr>
            </a:pPr>
            <a:r>
              <a:t>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6950" y="933449"/>
            <a:ext cx="30003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4D6D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2562225"/>
            <a:ext cx="1066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0">
                <a:solidFill>
                  <a:srgbClr val="000000"/>
                </a:solidFill>
                <a:latin typeface="Inter"/>
              </a:defRPr>
            </a:pPr>
            <a:r>
              <a:t>🗂️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056" y="2562225"/>
            <a:ext cx="1066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0">
                <a:solidFill>
                  <a:srgbClr val="000000"/>
                </a:solidFill>
                <a:latin typeface="Inter"/>
              </a:defRPr>
            </a:pPr>
            <a:r>
              <a:t>⏱️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19088" y="2562225"/>
            <a:ext cx="10668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0">
                <a:solidFill>
                  <a:srgbClr val="000000"/>
                </a:solidFill>
                <a:latin typeface="Inter"/>
              </a:defRPr>
            </a:pPr>
            <a: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3438525"/>
            <a:ext cx="36861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Inter"/>
              </a:defRPr>
            </a:pPr>
            <a:r>
              <a:t>Scattered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056" y="3438525"/>
            <a:ext cx="35052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Inter"/>
              </a:defRPr>
            </a:pPr>
            <a:r>
              <a:t>Slow Incident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19088" y="3438525"/>
            <a:ext cx="36480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Inter"/>
              </a:defRPr>
            </a:pPr>
            <a:r>
              <a:t>Tier 1 — Financial 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3943350"/>
            <a:ext cx="4572000" cy="7980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Runbooks live across Confluence exports, PDFs, and Word docs — no single searchable source of truth.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056" y="3943350"/>
            <a:ext cx="4486275" cy="7980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Engineers lose critical minutes searching during live incidents instead of resolving them — every second 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19088" y="3943350"/>
            <a:ext cx="4791075" cy="7980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The SEPA Payment Gateway is classified Tier 1. Slow or incorrect answers carry direct financial and compliance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62100" y="5202269"/>
            <a:ext cx="415290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📁 Multiple disconnected repositories, no unified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131" y="5202269"/>
            <a:ext cx="41243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⚡ High MTTR driven by manual documentation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38163" y="5202269"/>
            <a:ext cx="3876674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💳 Zero tolerance for errors in payment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3025" y="9105900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0000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4525" y="9177337"/>
            <a:ext cx="390524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Every minute of unresolved incident 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8775" y="9177337"/>
            <a:ext cx="2686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4D6D"/>
                </a:solidFill>
                <a:latin typeface="Inter"/>
              </a:defRPr>
            </a:pPr>
            <a:r>
              <a:t>direct financial exposure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3825" y="9177337"/>
            <a:ext cx="29146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Inter"/>
              </a:defRPr>
            </a:pPr>
            <a:r>
              <a:t>on a Tier 1 payment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278350" y="983932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2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334000"/>
            <a:ext cx="3976687" cy="1404937"/>
          </a:xfrm>
          <a:prstGeom prst="rect">
            <a:avLst/>
          </a:prstGeom>
        </p:spPr>
      </p:pic>
      <p:pic>
        <p:nvPicPr>
          <p:cNvPr id="5" name="Picture 4" descr="visual_element_slide_0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437" y="5334000"/>
            <a:ext cx="3976687" cy="1404937"/>
          </a:xfrm>
          <a:prstGeom prst="rect">
            <a:avLst/>
          </a:prstGeom>
        </p:spPr>
      </p:pic>
      <p:pic>
        <p:nvPicPr>
          <p:cNvPr id="6" name="Picture 5" descr="visual_element_slide_0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5" y="5334000"/>
            <a:ext cx="3976687" cy="1404937"/>
          </a:xfrm>
          <a:prstGeom prst="rect">
            <a:avLst/>
          </a:prstGeom>
        </p:spPr>
      </p:pic>
      <p:pic>
        <p:nvPicPr>
          <p:cNvPr id="7" name="Picture 6" descr="visual_element_slide_0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312" y="5334000"/>
            <a:ext cx="3976687" cy="1404937"/>
          </a:xfrm>
          <a:prstGeom prst="rect">
            <a:avLst/>
          </a:prstGeom>
        </p:spPr>
      </p:pic>
      <p:pic>
        <p:nvPicPr>
          <p:cNvPr id="8" name="Picture 7" descr="visual_element_slide_03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1905000"/>
            <a:ext cx="2095499" cy="2352675"/>
          </a:xfrm>
          <a:prstGeom prst="rect">
            <a:avLst/>
          </a:prstGeom>
        </p:spPr>
      </p:pic>
      <p:pic>
        <p:nvPicPr>
          <p:cNvPr id="9" name="Picture 8" descr="visual_element_slide_03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005012"/>
            <a:ext cx="2095499" cy="2152650"/>
          </a:xfrm>
          <a:prstGeom prst="rect">
            <a:avLst/>
          </a:prstGeom>
        </p:spPr>
      </p:pic>
      <p:pic>
        <p:nvPicPr>
          <p:cNvPr id="10" name="Picture 9" descr="visual_element_slide_03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49" y="2005012"/>
            <a:ext cx="2095499" cy="2152650"/>
          </a:xfrm>
          <a:prstGeom prst="rect">
            <a:avLst/>
          </a:prstGeom>
        </p:spPr>
      </p:pic>
      <p:pic>
        <p:nvPicPr>
          <p:cNvPr id="11" name="Picture 10" descr="visual_element_slide_03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3350" y="2005012"/>
            <a:ext cx="2095499" cy="2152650"/>
          </a:xfrm>
          <a:prstGeom prst="rect">
            <a:avLst/>
          </a:prstGeom>
        </p:spPr>
      </p:pic>
      <p:pic>
        <p:nvPicPr>
          <p:cNvPr id="12" name="Picture 11" descr="visual_element_slide_03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30450" y="2005012"/>
            <a:ext cx="2095499" cy="2152650"/>
          </a:xfrm>
          <a:prstGeom prst="rect">
            <a:avLst/>
          </a:prstGeom>
        </p:spPr>
      </p:pic>
      <p:pic>
        <p:nvPicPr>
          <p:cNvPr id="13" name="Picture 12" descr="visual_element_slide_03_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400" y="1762125"/>
            <a:ext cx="304800" cy="304800"/>
          </a:xfrm>
          <a:prstGeom prst="rect">
            <a:avLst/>
          </a:prstGeom>
        </p:spPr>
      </p:pic>
      <p:pic>
        <p:nvPicPr>
          <p:cNvPr id="14" name="Picture 13" descr="visual_element_slide_03_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4500" y="1862137"/>
            <a:ext cx="304800" cy="304800"/>
          </a:xfrm>
          <a:prstGeom prst="rect">
            <a:avLst/>
          </a:prstGeom>
        </p:spPr>
      </p:pic>
      <p:pic>
        <p:nvPicPr>
          <p:cNvPr id="15" name="Picture 14" descr="visual_element_slide_03_0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0" y="1862137"/>
            <a:ext cx="304800" cy="304800"/>
          </a:xfrm>
          <a:prstGeom prst="rect">
            <a:avLst/>
          </a:prstGeom>
        </p:spPr>
      </p:pic>
      <p:pic>
        <p:nvPicPr>
          <p:cNvPr id="16" name="Picture 15" descr="visual_element_slide_03_0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58700" y="1862137"/>
            <a:ext cx="304800" cy="304800"/>
          </a:xfrm>
          <a:prstGeom prst="rect">
            <a:avLst/>
          </a:prstGeom>
        </p:spPr>
      </p:pic>
      <p:pic>
        <p:nvPicPr>
          <p:cNvPr id="17" name="Picture 16" descr="visual_element_slide_03_0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25800" y="1862137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571500"/>
            <a:ext cx="192404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D4FF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857250"/>
            <a:ext cx="172878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FFFFFF"/>
                </a:solidFill>
                <a:latin typeface="Inter"/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6950" y="857250"/>
            <a:ext cx="264318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00D4FF"/>
                </a:solidFill>
                <a:latin typeface="Inter"/>
              </a:defRPr>
            </a:pPr>
            <a: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800" y="857250"/>
            <a:ext cx="487203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FFFFFF"/>
                </a:solidFill>
                <a:latin typeface="Inter"/>
              </a:defRPr>
            </a:pPr>
            <a:r>
              <a:t>— 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1225" y="1833562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A0F1E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34037" y="1933575"/>
            <a:ext cx="46672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A0F1E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1137" y="1933575"/>
            <a:ext cx="46672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8237" y="1933575"/>
            <a:ext cx="46672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A0F1E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35337" y="1933575"/>
            <a:ext cx="46672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A0F1E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49" y="2181225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1150" y="2281237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✂️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0" y="2281237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25350" y="2281237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92449" y="2281237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0" y="2824162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7100" y="2824162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2824162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11300" y="2824162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85925" y="28765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Documents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0625" y="2976562"/>
            <a:ext cx="17335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Parse &amp; Chunk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0150" y="2976562"/>
            <a:ext cx="10287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Embed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44337" y="2976562"/>
            <a:ext cx="19145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Search &amp; Rerank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35237" y="2976562"/>
            <a:ext cx="20669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Grounded 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8762" y="3200400"/>
            <a:ext cx="17430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PDFs, Word docs, Markdown, runbooks ingested from internal repos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8225" y="3300412"/>
            <a:ext cx="2038349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Smart splitting preserving tables, headers, diagrams, and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0087" y="3300412"/>
            <a:ext cx="20288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Chunks converted to semantic vectors stored in local vector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87187" y="3300412"/>
            <a:ext cx="20288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Semantic search + second-pass reranking for maximum relevance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06674" y="3300412"/>
            <a:ext cx="1924049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LLM answers only from retrieved context — with source citations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0125" y="5572125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5900" y="5572125"/>
            <a:ext cx="19145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100% On-Premises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2562" y="5572125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8337" y="557212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Multi-Format Ingestion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5000" y="5572125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0775" y="5572125"/>
            <a:ext cx="22002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Source-Cited Answers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87437" y="5572125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273212" y="5572125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Real-Time 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5900" y="5853112"/>
            <a:ext cx="33623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All models run on internal hardware — no external API calls at any stage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48337" y="5853112"/>
            <a:ext cx="282892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Handles PDFs, Word, Markdown including tables, headers, footers, embedded diagrams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0775" y="5853112"/>
            <a:ext cx="31623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Every response links back to the exact document and section it was derived from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73212" y="5853112"/>
            <a:ext cx="29813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Sub-second semantic search across thousands of document chunks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425" y="9372600"/>
            <a:ext cx="124777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00FF88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1700" y="9363075"/>
            <a:ext cx="43529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"Please describe the mandate creation process?"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4125" y="9334500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0FF88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34175" y="9367837"/>
            <a:ext cx="6191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✅ Answered directly from SEPA service documentation, with sources cited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278350" y="993457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4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333500"/>
            <a:ext cx="7620000" cy="762000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1762125"/>
            <a:ext cx="12858750" cy="938212"/>
          </a:xfrm>
          <a:prstGeom prst="rect">
            <a:avLst/>
          </a:prstGeom>
        </p:spPr>
      </p:pic>
      <p:pic>
        <p:nvPicPr>
          <p:cNvPr id="5" name="Picture 4" descr="visual_element_slide_04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857375"/>
            <a:ext cx="3238500" cy="2857500"/>
          </a:xfrm>
          <a:prstGeom prst="rect">
            <a:avLst/>
          </a:prstGeom>
        </p:spPr>
      </p:pic>
      <p:pic>
        <p:nvPicPr>
          <p:cNvPr id="6" name="Picture 5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890837"/>
            <a:ext cx="12858750" cy="938212"/>
          </a:xfrm>
          <a:prstGeom prst="rect">
            <a:avLst/>
          </a:prstGeom>
        </p:spPr>
      </p:pic>
      <p:pic>
        <p:nvPicPr>
          <p:cNvPr id="7" name="Picture 6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4019549"/>
            <a:ext cx="12858750" cy="938212"/>
          </a:xfrm>
          <a:prstGeom prst="rect">
            <a:avLst/>
          </a:prstGeom>
        </p:spPr>
      </p:pic>
      <p:pic>
        <p:nvPicPr>
          <p:cNvPr id="8" name="Picture 7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5148262"/>
            <a:ext cx="12858750" cy="938212"/>
          </a:xfrm>
          <a:prstGeom prst="rect">
            <a:avLst/>
          </a:prstGeom>
        </p:spPr>
      </p:pic>
      <p:pic>
        <p:nvPicPr>
          <p:cNvPr id="9" name="Picture 8" descr="visual_element_slide_04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905375"/>
            <a:ext cx="3238500" cy="657225"/>
          </a:xfrm>
          <a:prstGeom prst="rect">
            <a:avLst/>
          </a:prstGeom>
        </p:spPr>
      </p:pic>
      <p:pic>
        <p:nvPicPr>
          <p:cNvPr id="10" name="Picture 9" descr="visual_element_slide_04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695950"/>
            <a:ext cx="3238500" cy="657225"/>
          </a:xfrm>
          <a:prstGeom prst="rect">
            <a:avLst/>
          </a:prstGeom>
        </p:spPr>
      </p:pic>
      <p:pic>
        <p:nvPicPr>
          <p:cNvPr id="11" name="Picture 10" descr="visual_element_slide_04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6486525"/>
            <a:ext cx="3238500" cy="657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523874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88"/>
                </a:solidFill>
                <a:latin typeface="Inter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781050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Inter"/>
              </a:defRPr>
            </a:pPr>
            <a:r>
              <a:t>Zero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1409700"/>
            <a:ext cx="4105274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00FF88"/>
                </a:solidFill>
                <a:latin typeface="Inter"/>
              </a:defRPr>
            </a:pPr>
            <a:r>
              <a:t>Fully Offline.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2050" y="2000250"/>
            <a:ext cx="78105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000000"/>
                </a:solidFill>
                <a:latin typeface="Inter"/>
              </a:defRPr>
            </a:pPr>
            <a: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1650" y="1981199"/>
            <a:ext cx="25812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Inter"/>
              </a:defRPr>
            </a:pPr>
            <a:r>
              <a:t>No Cloud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8349" y="2281237"/>
            <a:ext cx="1709737" cy="1038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6750" b="0">
                <a:solidFill>
                  <a:srgbClr val="000000"/>
                </a:solidFill>
                <a:latin typeface="Inter"/>
              </a:defRPr>
            </a:pPr>
            <a: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1650" y="2276475"/>
            <a:ext cx="7867649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Every model, embedding, and vector store runs on internal hardware. No AWS, Azure, or GCP required — ever.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15900" y="2257425"/>
            <a:ext cx="9515475" cy="5762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7500" b="0">
                <a:solidFill>
                  <a:srgbClr val="000000"/>
                </a:solidFill>
                <a:latin typeface="Inter"/>
              </a:defRPr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2050" y="3128962"/>
            <a:ext cx="78105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000000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1650" y="3109912"/>
            <a:ext cx="3905249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Inter"/>
              </a:defRPr>
            </a:pPr>
            <a:r>
              <a:t>Zero Data Leakage to Third-Party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1650" y="3405187"/>
            <a:ext cx="84296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Your documentation never touches OpenAI, Anthropic, or any external LLM provider. Proprietary data stays proprietary.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8825" y="3452812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88"/>
                </a:solidFill>
                <a:latin typeface="Inter"/>
              </a:defRPr>
            </a:pPr>
            <a:r>
              <a:t>Air-Gapped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0725" y="3681412"/>
            <a:ext cx="1543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88"/>
                </a:solidFill>
                <a:latin typeface="Inter"/>
              </a:defRPr>
            </a:pPr>
            <a: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4512" y="3967162"/>
            <a:ext cx="189547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No external connections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1225" y="4129087"/>
            <a:ext cx="1295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at any 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2050" y="4257675"/>
            <a:ext cx="78105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000000"/>
                </a:solidFill>
                <a:latin typeface="Inter"/>
              </a:defRPr>
            </a:pPr>
            <a: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1650" y="4238625"/>
            <a:ext cx="42100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Inter"/>
              </a:defRPr>
            </a:pPr>
            <a:r>
              <a:t>Compliant with Strict Data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1650" y="4533900"/>
            <a:ext cx="896302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Designed for Tier 1 Financial Critical systems. Meets internal data governance, audit, and regulatory compliance requirements.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525" y="5048250"/>
            <a:ext cx="60007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6425" y="5153025"/>
            <a:ext cx="14763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External API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2050" y="5386387"/>
            <a:ext cx="78105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000000"/>
                </a:solidFill>
                <a:latin typeface="Inter"/>
              </a:defRPr>
            </a:pPr>
            <a: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1650" y="5367337"/>
            <a:ext cx="30384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Inter"/>
              </a:defRPr>
            </a:pPr>
            <a:r>
              <a:t>No External Threat 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1650" y="5662612"/>
            <a:ext cx="8267699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Fully air-gapped deployment eliminates exposure to external threats, supply-chain attacks, and third-party breaches.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525" y="5838825"/>
            <a:ext cx="126682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0750" y="5943600"/>
            <a:ext cx="16668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Data Stays In-House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525" y="6629400"/>
            <a:ext cx="8001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6425" y="6734175"/>
            <a:ext cx="13430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Per-Query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278350" y="983932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5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809750"/>
            <a:ext cx="7429500" cy="581025"/>
          </a:xfrm>
          <a:prstGeom prst="rect">
            <a:avLst/>
          </a:prstGeom>
        </p:spPr>
      </p:pic>
      <p:pic>
        <p:nvPicPr>
          <p:cNvPr id="5" name="Picture 4" descr="visual_element_slide_05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1809750"/>
            <a:ext cx="7429500" cy="581025"/>
          </a:xfrm>
          <a:prstGeom prst="rect">
            <a:avLst/>
          </a:prstGeom>
        </p:spPr>
      </p:pic>
      <p:pic>
        <p:nvPicPr>
          <p:cNvPr id="6" name="Picture 5" descr="visual_element_slide_05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2390775"/>
            <a:ext cx="7429500" cy="676275"/>
          </a:xfrm>
          <a:prstGeom prst="rect">
            <a:avLst/>
          </a:prstGeom>
        </p:spPr>
      </p:pic>
      <p:pic>
        <p:nvPicPr>
          <p:cNvPr id="7" name="Picture 6" descr="visual_element_slide_05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2390775"/>
            <a:ext cx="7429500" cy="676275"/>
          </a:xfrm>
          <a:prstGeom prst="rect">
            <a:avLst/>
          </a:prstGeom>
        </p:spPr>
      </p:pic>
      <p:pic>
        <p:nvPicPr>
          <p:cNvPr id="8" name="Picture 7" descr="visual_element_slide_05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067050"/>
            <a:ext cx="7429500" cy="676275"/>
          </a:xfrm>
          <a:prstGeom prst="rect">
            <a:avLst/>
          </a:prstGeom>
        </p:spPr>
      </p:pic>
      <p:pic>
        <p:nvPicPr>
          <p:cNvPr id="9" name="Picture 8" descr="visual_element_slide_05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3067050"/>
            <a:ext cx="7429500" cy="676275"/>
          </a:xfrm>
          <a:prstGeom prst="rect">
            <a:avLst/>
          </a:prstGeom>
        </p:spPr>
      </p:pic>
      <p:pic>
        <p:nvPicPr>
          <p:cNvPr id="10" name="Picture 9" descr="visual_element_slide_05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743325"/>
            <a:ext cx="7429500" cy="676275"/>
          </a:xfrm>
          <a:prstGeom prst="rect">
            <a:avLst/>
          </a:prstGeom>
        </p:spPr>
      </p:pic>
      <p:pic>
        <p:nvPicPr>
          <p:cNvPr id="11" name="Picture 10" descr="visual_element_slide_05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3743325"/>
            <a:ext cx="7429500" cy="676275"/>
          </a:xfrm>
          <a:prstGeom prst="rect">
            <a:avLst/>
          </a:prstGeom>
        </p:spPr>
      </p:pic>
      <p:pic>
        <p:nvPicPr>
          <p:cNvPr id="12" name="Picture 11" descr="visual_element_slide_05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4419600"/>
            <a:ext cx="7429500" cy="676275"/>
          </a:xfrm>
          <a:prstGeom prst="rect">
            <a:avLst/>
          </a:prstGeom>
        </p:spPr>
      </p:pic>
      <p:pic>
        <p:nvPicPr>
          <p:cNvPr id="13" name="Picture 12" descr="visual_element_slide_05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4419600"/>
            <a:ext cx="7429500" cy="676275"/>
          </a:xfrm>
          <a:prstGeom prst="rect">
            <a:avLst/>
          </a:prstGeom>
        </p:spPr>
      </p:pic>
      <p:pic>
        <p:nvPicPr>
          <p:cNvPr id="14" name="Picture 13" descr="visual_element_slide_05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5095875"/>
            <a:ext cx="7429500" cy="676275"/>
          </a:xfrm>
          <a:prstGeom prst="rect">
            <a:avLst/>
          </a:prstGeom>
        </p:spPr>
      </p:pic>
      <p:pic>
        <p:nvPicPr>
          <p:cNvPr id="15" name="Picture 14" descr="visual_element_slide_05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0" y="5095875"/>
            <a:ext cx="7429500" cy="676275"/>
          </a:xfrm>
          <a:prstGeom prst="rect">
            <a:avLst/>
          </a:prstGeom>
        </p:spPr>
      </p:pic>
      <p:pic>
        <p:nvPicPr>
          <p:cNvPr id="16" name="Picture 15" descr="visual_element_slide_05_0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772150"/>
            <a:ext cx="7429500" cy="676275"/>
          </a:xfrm>
          <a:prstGeom prst="rect">
            <a:avLst/>
          </a:prstGeom>
        </p:spPr>
      </p:pic>
      <p:pic>
        <p:nvPicPr>
          <p:cNvPr id="17" name="Picture 16" descr="visual_element_slide_05_0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0" y="5772150"/>
            <a:ext cx="7429500" cy="6762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571500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88"/>
                </a:solidFill>
                <a:latin typeface="Inter"/>
              </a:defRPr>
            </a:pPr>
            <a:r>
              <a:t>SECURITY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857250"/>
            <a:ext cx="5224462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FFFFFF"/>
                </a:solidFill>
                <a:latin typeface="Inter"/>
              </a:defRPr>
            </a:pPr>
            <a:r>
              <a:t>Traditional AI vs.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2625" y="857250"/>
            <a:ext cx="430053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00FF88"/>
                </a:solidFill>
                <a:latin typeface="Inter"/>
              </a:defRPr>
            </a:pPr>
            <a:r>
              <a:t>Our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1990725"/>
            <a:ext cx="27146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4D6D"/>
                </a:solidFill>
                <a:latin typeface="Inter"/>
              </a:defRPr>
            </a:pPr>
            <a:r>
              <a:t>❌ Cloud-Based AI (Risk)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2225" y="1990725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88"/>
                </a:solidFill>
                <a:latin typeface="Inter"/>
              </a:defRPr>
            </a:pPr>
            <a:r>
              <a:t>✅ Our Offline AI (Zero Risk)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260032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250" y="2581275"/>
            <a:ext cx="508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Data sent to third-party cloud providers (OpenAI, Azure, etc.)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2225" y="260032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2750" y="2581275"/>
            <a:ext cx="5314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All processing on internal hardware — data never leaves the 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8725" y="327660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0" y="325755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Proprietary documentation exposed to external LLM training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2225" y="327660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2750" y="3257550"/>
            <a:ext cx="57531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Documentation fully isolated — zero exposure to external AI providers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8725" y="395287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9250" y="3933824"/>
            <a:ext cx="45434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Requires internet connectivity — single point of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8737" y="3967162"/>
            <a:ext cx="7715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Inter"/>
              </a:defRPr>
            </a:pPr>
            <a:r>
              <a:t>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2225" y="395287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✈️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2750" y="3933824"/>
            <a:ext cx="53816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Air-gapped deployment — works fully offline, no internet 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8725" y="462915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9250" y="4610100"/>
            <a:ext cx="47339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Per-token costs scale with usage — unpredictable 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2225" y="462915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2750" y="4610100"/>
            <a:ext cx="5029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Zero per-query cost — fixed infrastructure, unlimited queries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8725" y="530542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19250" y="5286375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Compliance risk: data residency, GDPR, PCI-DSS violations possible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2225" y="5305425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72750" y="5286375"/>
            <a:ext cx="55054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Fully compliant: data governance, audit trails, regulatory alignment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8725" y="598170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250" y="5962650"/>
            <a:ext cx="401954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Vendor lock-in and supply-chain attack surface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82225" y="5981700"/>
            <a:ext cx="6381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🛡️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2750" y="5962650"/>
            <a:ext cx="49625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FFFFFF"/>
                </a:solidFill>
                <a:latin typeface="Inter"/>
              </a:defRPr>
            </a:pPr>
            <a:r>
              <a:t>No vendor dependency — full control over models and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4925" y="9239250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🏛️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2600" y="9210675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Data 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95725" y="9239250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9210675"/>
            <a:ext cx="15906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PCI-DSS 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72275" y="9239250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9950" y="921067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Data Residency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29750" y="9239250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7425" y="921067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Audit-Ready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58700" y="9239250"/>
            <a:ext cx="714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06375" y="9210675"/>
            <a:ext cx="20859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00D4FF"/>
                </a:solidFill>
                <a:latin typeface="Inter"/>
              </a:defRPr>
            </a:pPr>
            <a:r>
              <a:t>Zero Third-Party Risk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52600" y="9401175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Full audit trail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43400" y="9401175"/>
            <a:ext cx="203834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No card data exposure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19950" y="9401175"/>
            <a:ext cx="18192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Stays in your region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7425" y="9401175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Full logging &amp; traceability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06375" y="9401175"/>
            <a:ext cx="22574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No external dependencies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287875" y="993457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6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6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809750"/>
            <a:ext cx="4000500" cy="2695575"/>
          </a:xfrm>
          <a:prstGeom prst="rect">
            <a:avLst/>
          </a:prstGeom>
        </p:spPr>
      </p:pic>
      <p:pic>
        <p:nvPicPr>
          <p:cNvPr id="5" name="Picture 4" descr="visual_element_slide_06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1809750"/>
            <a:ext cx="4000500" cy="2695575"/>
          </a:xfrm>
          <a:prstGeom prst="rect">
            <a:avLst/>
          </a:prstGeom>
        </p:spPr>
      </p:pic>
      <p:pic>
        <p:nvPicPr>
          <p:cNvPr id="6" name="Picture 5" descr="visual_element_slide_06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1809750"/>
            <a:ext cx="4000500" cy="2695575"/>
          </a:xfrm>
          <a:prstGeom prst="rect">
            <a:avLst/>
          </a:prstGeom>
        </p:spPr>
      </p:pic>
      <p:pic>
        <p:nvPicPr>
          <p:cNvPr id="7" name="Picture 6" descr="visual_element_slide_06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4772025"/>
            <a:ext cx="4000500" cy="2695575"/>
          </a:xfrm>
          <a:prstGeom prst="rect">
            <a:avLst/>
          </a:prstGeom>
        </p:spPr>
      </p:pic>
      <p:pic>
        <p:nvPicPr>
          <p:cNvPr id="8" name="Picture 7" descr="visual_element_slide_06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700" y="4772025"/>
            <a:ext cx="4000500" cy="2695575"/>
          </a:xfrm>
          <a:prstGeom prst="rect">
            <a:avLst/>
          </a:prstGeom>
        </p:spPr>
      </p:pic>
      <p:pic>
        <p:nvPicPr>
          <p:cNvPr id="9" name="Picture 8" descr="visual_element_slide_06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6900" y="4772025"/>
            <a:ext cx="4000500" cy="2695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2500" y="571500"/>
            <a:ext cx="1752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B2FBE"/>
                </a:solidFill>
                <a:latin typeface="Inter"/>
              </a:defRPr>
            </a:pPr>
            <a:r>
              <a:t>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857250"/>
            <a:ext cx="2547937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FFFFFF"/>
                </a:solidFill>
                <a:latin typeface="Inter"/>
              </a:defRPr>
            </a:pPr>
            <a:r>
              <a:t>What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6100" y="857250"/>
            <a:ext cx="2709862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350" b="1">
                <a:solidFill>
                  <a:srgbClr val="A855F7"/>
                </a:solidFill>
                <a:latin typeface="Inter"/>
              </a:defRPr>
            </a:pPr>
            <a:r>
              <a:t>Delivers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2124075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4975" y="2124075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2175" y="2124075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2790825"/>
            <a:ext cx="27336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Multi-Format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4975" y="2790825"/>
            <a:ext cx="22669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Accurate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2175" y="2790825"/>
            <a:ext cx="26955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Source-Cited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3152775"/>
            <a:ext cx="378142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Handles PDFs, Word docs, Markdown — including tables, headers, footers, and embedded diagrams.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4975" y="3152775"/>
            <a:ext cx="3600450" cy="638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Chunking and deduplication logic tuned against real service documentation. Second-pass reranking for precision.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2175" y="3152775"/>
            <a:ext cx="3609975" cy="638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Every answer links back to the exact document and section — no hallucinations, fully grounded responses.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3771900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D4FF"/>
                </a:solidFill>
                <a:latin typeface="Inter"/>
              </a:defRPr>
            </a:pPr>
            <a:r>
              <a:t>PARSING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8325" y="4000500"/>
            <a:ext cx="10858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855F7"/>
                </a:solidFill>
                <a:latin typeface="Inter"/>
              </a:defRPr>
            </a:pPr>
            <a:r>
              <a:t>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5525" y="4000500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0FF88"/>
                </a:solidFill>
                <a:latin typeface="Inter"/>
              </a:defRPr>
            </a:pPr>
            <a:r>
              <a:t>GROUNDING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7775" y="5086350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4975" y="5086350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2175" y="5086350"/>
            <a:ext cx="904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300" b="0">
                <a:solidFill>
                  <a:srgbClr val="000000"/>
                </a:solidFill>
                <a:latin typeface="Inter"/>
              </a:defRPr>
            </a:pPr>
            <a:r>
              <a:t>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7775" y="5753100"/>
            <a:ext cx="30956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Web-Based Chat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4975" y="5753100"/>
            <a:ext cx="30099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Multi-Turn Conversations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2175" y="5753100"/>
            <a:ext cx="31718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Auto Doc Update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7775" y="6115050"/>
            <a:ext cx="3743325" cy="638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Browser-native UI — ask questions, get grounded answers, upload documents directly from the browser.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4975" y="6115050"/>
            <a:ext cx="3733799" cy="638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Follow-up questions with full context retention — engineers can drill down without repeating context.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2175" y="6115050"/>
            <a:ext cx="3790949" cy="638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Automatic detection of documentation changes — knowledge base stays current without manual re-ingestion.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1125" y="6962775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7DC6F"/>
                </a:solidFill>
                <a:latin typeface="Inter"/>
              </a:defRPr>
            </a:pPr>
            <a:r>
              <a:t>UX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8325" y="6962775"/>
            <a:ext cx="1047749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8C42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5525" y="6962775"/>
            <a:ext cx="1047749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4D6D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78350" y="983932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7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7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7100" y="571500"/>
            <a:ext cx="2438400" cy="400050"/>
          </a:xfrm>
          <a:prstGeom prst="rect">
            <a:avLst/>
          </a:prstGeom>
        </p:spPr>
      </p:pic>
      <p:pic>
        <p:nvPicPr>
          <p:cNvPr id="5" name="Picture 4" descr="visual_element_slide_07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905000"/>
            <a:ext cx="4826031" cy="1983009"/>
          </a:xfrm>
          <a:prstGeom prst="rect">
            <a:avLst/>
          </a:prstGeom>
        </p:spPr>
      </p:pic>
      <p:pic>
        <p:nvPicPr>
          <p:cNvPr id="6" name="Picture 5" descr="visual_element_slide_07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31" y="1905000"/>
            <a:ext cx="4826031" cy="1983009"/>
          </a:xfrm>
          <a:prstGeom prst="rect">
            <a:avLst/>
          </a:prstGeom>
        </p:spPr>
      </p:pic>
      <p:pic>
        <p:nvPicPr>
          <p:cNvPr id="7" name="Picture 6" descr="visual_element_slide_07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9563" y="1905000"/>
            <a:ext cx="4826031" cy="1983009"/>
          </a:xfrm>
          <a:prstGeom prst="rect">
            <a:avLst/>
          </a:prstGeom>
        </p:spPr>
      </p:pic>
      <p:pic>
        <p:nvPicPr>
          <p:cNvPr id="8" name="Picture 7" descr="visual_element_slide_07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269009"/>
            <a:ext cx="3924300" cy="1857375"/>
          </a:xfrm>
          <a:prstGeom prst="rect">
            <a:avLst/>
          </a:prstGeom>
        </p:spPr>
      </p:pic>
      <p:pic>
        <p:nvPicPr>
          <p:cNvPr id="9" name="Picture 8" descr="visual_element_slide_07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5400" y="4269009"/>
            <a:ext cx="3924300" cy="1857375"/>
          </a:xfrm>
          <a:prstGeom prst="rect">
            <a:avLst/>
          </a:prstGeom>
        </p:spPr>
      </p:pic>
      <p:pic>
        <p:nvPicPr>
          <p:cNvPr id="10" name="Picture 9" descr="visual_element_slide_07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8300" y="4269009"/>
            <a:ext cx="3924300" cy="1857375"/>
          </a:xfrm>
          <a:prstGeom prst="rect">
            <a:avLst/>
          </a:prstGeom>
        </p:spPr>
      </p:pic>
      <p:pic>
        <p:nvPicPr>
          <p:cNvPr id="11" name="Picture 10" descr="visual_element_slide_07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11200" y="4269009"/>
            <a:ext cx="3924300" cy="1857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571500"/>
            <a:ext cx="17335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7DC6F"/>
                </a:solidFill>
                <a:latin typeface="Inter"/>
              </a:defRPr>
            </a:pPr>
            <a: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35224" y="676275"/>
            <a:ext cx="23431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7DC6F"/>
                </a:solidFill>
                <a:latin typeface="Inter"/>
              </a:defRPr>
            </a:pPr>
            <a:r>
              <a:t>🚀 FUTURE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819150"/>
            <a:ext cx="66675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</a:pPr>
            <a:r>
              <a:t>Remedy AO-Dashboard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1405794"/>
            <a:ext cx="33432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7DC6F"/>
                </a:solidFill>
                <a:latin typeface="Inter"/>
              </a:defRPr>
            </a:pPr>
            <a: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5905" y="2200275"/>
            <a:ext cx="1000125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000000"/>
                </a:solidFill>
                <a:latin typeface="Inter"/>
              </a:defRPr>
            </a:pPr>
            <a:r>
              <a:t>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4437" y="2200275"/>
            <a:ext cx="1000125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000000"/>
                </a:solidFill>
                <a:latin typeface="Inter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12969" y="2200275"/>
            <a:ext cx="1000125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900" b="0">
                <a:solidFill>
                  <a:srgbClr val="000000"/>
                </a:solidFill>
                <a:latin typeface="Inter"/>
              </a:defRPr>
            </a:pPr>
            <a: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9531" y="2696432"/>
            <a:ext cx="5715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38063" y="2696432"/>
            <a:ext cx="5715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5318" y="2914650"/>
            <a:ext cx="27813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Remedy AO-Dashboard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0612" y="2914650"/>
            <a:ext cx="12477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08094" y="2914650"/>
            <a:ext cx="28098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Internal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5694" y="3029807"/>
            <a:ext cx="106680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LIVE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23751" y="3029807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4893" y="3228975"/>
            <a:ext cx="19621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All INCs, SRs, and 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4387" y="3228975"/>
            <a:ext cx="18002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RAG-powered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41481" y="3228975"/>
            <a:ext cx="19431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Runbooks, SOPs,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1593" y="3415569"/>
            <a:ext cx="14287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for every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5825" y="3415569"/>
            <a:ext cx="16573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&amp; auto-triage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03381" y="3415569"/>
            <a:ext cx="20193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docs, historical resolutions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1575" y="4526184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0000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4475" y="4526184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0000"/>
                </a:solidFill>
                <a:latin typeface="Inter"/>
              </a:defRPr>
            </a:pPr>
            <a:r>
              <a:t>🏷️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7375" y="4526184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0000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30275" y="4526184"/>
            <a:ext cx="762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0000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1575" y="5011959"/>
            <a:ext cx="25527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Inter"/>
              </a:defRPr>
            </a:pPr>
            <a:r>
              <a:t>Pre-Analysis on New INCs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4475" y="5011959"/>
            <a:ext cx="27051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Inter"/>
              </a:defRPr>
            </a:pPr>
            <a:r>
              <a:t>Auto-Triage &amp;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7375" y="5011959"/>
            <a:ext cx="23622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Inter"/>
              </a:defRPr>
            </a:pPr>
            <a:r>
              <a:t>Resolution Suggestions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30275" y="5011959"/>
            <a:ext cx="22955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Inter"/>
              </a:defRPr>
            </a:pPr>
            <a:r>
              <a:t>SR Pattern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1575" y="5307234"/>
            <a:ext cx="38576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AI instantly analyzes incoming incidents against historical tickets and documentation before an engineer even opens the ticket.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4475" y="5307234"/>
            <a:ext cx="364807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Automatically categorizes severity, affected service, and likely root cause based on ticket patterns and runbook knowledge.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7375" y="5307234"/>
            <a:ext cx="38385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Surfaces similar resolved tickets and matching runbook steps — engineers get a head start, not a blank page.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630275" y="5307234"/>
            <a:ext cx="32766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Identifies recurring service request patterns to proactively surface documentation gaps and automation opportunities.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287875" y="983932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8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8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67" y="1762125"/>
            <a:ext cx="1905000" cy="1792509"/>
          </a:xfrm>
          <a:prstGeom prst="rect">
            <a:avLst/>
          </a:prstGeom>
        </p:spPr>
      </p:pic>
      <p:pic>
        <p:nvPicPr>
          <p:cNvPr id="5" name="Picture 4" descr="visual_element_slide_08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741" y="1762125"/>
            <a:ext cx="1905000" cy="1594389"/>
          </a:xfrm>
          <a:prstGeom prst="rect">
            <a:avLst/>
          </a:prstGeom>
        </p:spPr>
      </p:pic>
      <p:pic>
        <p:nvPicPr>
          <p:cNvPr id="6" name="Picture 5" descr="visual_element_slide_08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716" y="1762125"/>
            <a:ext cx="1905000" cy="1594389"/>
          </a:xfrm>
          <a:prstGeom prst="rect">
            <a:avLst/>
          </a:prstGeom>
        </p:spPr>
      </p:pic>
      <p:pic>
        <p:nvPicPr>
          <p:cNvPr id="7" name="Picture 6" descr="visual_element_slide_08_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690" y="1762125"/>
            <a:ext cx="1905000" cy="1594389"/>
          </a:xfrm>
          <a:prstGeom prst="rect">
            <a:avLst/>
          </a:prstGeom>
        </p:spPr>
      </p:pic>
      <p:pic>
        <p:nvPicPr>
          <p:cNvPr id="8" name="Picture 7" descr="visual_element_slide_08_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569" y="1762125"/>
            <a:ext cx="1905000" cy="1792509"/>
          </a:xfrm>
          <a:prstGeom prst="rect">
            <a:avLst/>
          </a:prstGeom>
        </p:spPr>
      </p:pic>
      <p:pic>
        <p:nvPicPr>
          <p:cNvPr id="9" name="Picture 8" descr="visual_element_slide_08_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7544" y="1762125"/>
            <a:ext cx="1905000" cy="1594389"/>
          </a:xfrm>
          <a:prstGeom prst="rect">
            <a:avLst/>
          </a:prstGeom>
        </p:spPr>
      </p:pic>
      <p:pic>
        <p:nvPicPr>
          <p:cNvPr id="10" name="Picture 9" descr="visual_element_slide_08_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80518" y="1762125"/>
            <a:ext cx="1905000" cy="1594389"/>
          </a:xfrm>
          <a:prstGeom prst="rect">
            <a:avLst/>
          </a:prstGeom>
        </p:spPr>
      </p:pic>
      <p:pic>
        <p:nvPicPr>
          <p:cNvPr id="11" name="Picture 10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5741" y="3508914"/>
            <a:ext cx="1905000" cy="689514"/>
          </a:xfrm>
          <a:prstGeom prst="rect">
            <a:avLst/>
          </a:prstGeom>
        </p:spPr>
      </p:pic>
      <p:pic>
        <p:nvPicPr>
          <p:cNvPr id="12" name="Picture 11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8716" y="3508914"/>
            <a:ext cx="1905000" cy="689514"/>
          </a:xfrm>
          <a:prstGeom prst="rect">
            <a:avLst/>
          </a:prstGeom>
        </p:spPr>
      </p:pic>
      <p:pic>
        <p:nvPicPr>
          <p:cNvPr id="13" name="Picture 12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690" y="3508914"/>
            <a:ext cx="1905000" cy="689514"/>
          </a:xfrm>
          <a:prstGeom prst="rect">
            <a:avLst/>
          </a:prstGeom>
        </p:spPr>
      </p:pic>
      <p:pic>
        <p:nvPicPr>
          <p:cNvPr id="14" name="Picture 13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17544" y="3508914"/>
            <a:ext cx="1905000" cy="689514"/>
          </a:xfrm>
          <a:prstGeom prst="rect">
            <a:avLst/>
          </a:prstGeom>
        </p:spPr>
      </p:pic>
      <p:pic>
        <p:nvPicPr>
          <p:cNvPr id="15" name="Picture 14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80518" y="3508914"/>
            <a:ext cx="1905000" cy="689514"/>
          </a:xfrm>
          <a:prstGeom prst="rect">
            <a:avLst/>
          </a:prstGeom>
        </p:spPr>
      </p:pic>
      <p:pic>
        <p:nvPicPr>
          <p:cNvPr id="16" name="Picture 15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767" y="3707034"/>
            <a:ext cx="1905000" cy="689514"/>
          </a:xfrm>
          <a:prstGeom prst="rect">
            <a:avLst/>
          </a:prstGeom>
        </p:spPr>
      </p:pic>
      <p:pic>
        <p:nvPicPr>
          <p:cNvPr id="17" name="Picture 16" descr="visual_element_slide_08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4569" y="3707034"/>
            <a:ext cx="1905000" cy="6895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523874"/>
            <a:ext cx="25431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8C42"/>
                </a:solidFill>
                <a:latin typeface="Inter"/>
              </a:defRPr>
            </a:pPr>
            <a:r>
              <a:t>INCIDENT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790575"/>
            <a:ext cx="3614737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FFFFF"/>
                </a:solidFill>
                <a:latin typeface="Inter"/>
              </a:defRPr>
            </a:pPr>
            <a:r>
              <a:t>Auto-Triage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1475" y="790575"/>
            <a:ext cx="1604962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FF8C42"/>
                </a:solidFill>
                <a:latin typeface="Inter"/>
              </a:defRPr>
            </a:pPr>
            <a:r>
              <a:t>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142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0116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091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065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🏷️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944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31919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👨‍💻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94893" y="1990725"/>
            <a:ext cx="857250" cy="4667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000" b="0">
                <a:solidFill>
                  <a:srgbClr val="000000"/>
                </a:solidFill>
                <a:latin typeface="Inter"/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2074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5048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7928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0902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733877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96851" y="2143125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FFFF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579" y="2552700"/>
            <a:ext cx="1476375" cy="3886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INC Created in Remedy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9104" y="2552700"/>
            <a:ext cx="18192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AI Agent Triggered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8303" y="25527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RAG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6515" y="2552700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Auto-Triage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2257" y="2552700"/>
            <a:ext cx="1905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Resolution Suggested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89006" y="2552700"/>
            <a:ext cx="17430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Engineer 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80593" y="2552700"/>
            <a:ext cx="10858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Resolved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61004" y="2807970"/>
            <a:ext cx="1895474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Instant analysis begins — no human needed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6841" y="2807970"/>
            <a:ext cx="1809750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Searches docs + historical tickets simultaneously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0765" y="2807970"/>
            <a:ext cx="1847850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Classifies severity, root cause, affected component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31856" y="2807970"/>
            <a:ext cx="1857375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Gets pre-analyzed context, not a blank ticket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75781" y="2807970"/>
            <a:ext cx="1895474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Ticket closed, resolution fed back to knowledge 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5179" y="3005994"/>
            <a:ext cx="1781175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New incident ticket raised for any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45069" y="3005994"/>
            <a:ext cx="1905000" cy="30289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Top matching runbook steps + similar resolved tickets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51479" y="3613689"/>
            <a:ext cx="1914525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Parses ticket metadata, extracts key signals, queries knowledge 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5416" y="3613689"/>
            <a:ext cx="1752600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Semantic search across runbooks, SOPs, and past resolved INCs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4565" y="3613689"/>
            <a:ext cx="2000250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Priority score, category tag, and likely root cause assigned automatically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08044" y="3613689"/>
            <a:ext cx="1905000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Engineer validates AI suggestion and applies fix — dramatically faster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761493" y="3613689"/>
            <a:ext cx="1924049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Outcome stored — improves future triage accuracy continuously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7567" y="3811809"/>
            <a:ext cx="1676400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Ticket contains: service name, error description, severity, timestamp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06969" y="3811809"/>
            <a:ext cx="1981199" cy="4628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Inter"/>
              </a:defRPr>
            </a:pPr>
            <a:r>
              <a:t>Ranked list of resolution steps with source citations and confidence scores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70632" y="9096375"/>
            <a:ext cx="1076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4D6D"/>
                </a:solidFill>
                <a:latin typeface="Inter"/>
              </a:defRPr>
            </a:pPr>
            <a:r>
              <a:t>T+0s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3050" y="9096375"/>
            <a:ext cx="8858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DC6F"/>
                </a:solidFill>
                <a:latin typeface="Inter"/>
              </a:defRPr>
            </a:pPr>
            <a:r>
              <a:t>&lt;5s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8782" y="9096375"/>
            <a:ext cx="1028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D4FF"/>
                </a:solidFill>
                <a:latin typeface="Inter"/>
              </a:defRPr>
            </a:pPr>
            <a:r>
              <a:t>&lt;10s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12588" y="9096375"/>
            <a:ext cx="1495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FF88"/>
                </a:solidFill>
                <a:latin typeface="Inter"/>
              </a:defRPr>
            </a:pPr>
            <a:r>
              <a:t>↓ MTTR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51582" y="9458325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Inter"/>
              </a:defRPr>
            </a:pPr>
            <a:r>
              <a:t>INC Created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1575" y="9458325"/>
            <a:ext cx="162877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Inter"/>
              </a:defRPr>
            </a:pPr>
            <a:r>
              <a:t>AI Analysis Complete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57294" y="9458325"/>
            <a:ext cx="197167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Inter"/>
              </a:defRPr>
            </a:pPr>
            <a:r>
              <a:t>Triage + Suggestion Ready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31613" y="9458325"/>
            <a:ext cx="1857375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FFFFFF"/>
                </a:solidFill>
                <a:latin typeface="Inter"/>
              </a:defRPr>
            </a:pPr>
            <a:r>
              <a:t>Engineer Starts Informed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278350" y="993457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150" cy="10287000"/>
          </a:xfrm>
          <a:prstGeom prst="rect">
            <a:avLst/>
          </a:prstGeom>
        </p:spPr>
      </p:pic>
      <p:pic>
        <p:nvPicPr>
          <p:cNvPr id="4" name="Picture 3" descr="visual_element_slide_09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762125"/>
            <a:ext cx="3881437" cy="2819400"/>
          </a:xfrm>
          <a:prstGeom prst="rect">
            <a:avLst/>
          </a:prstGeom>
        </p:spPr>
      </p:pic>
      <p:pic>
        <p:nvPicPr>
          <p:cNvPr id="5" name="Picture 4" descr="visual_element_slide_09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87" y="1762125"/>
            <a:ext cx="3881437" cy="2819400"/>
          </a:xfrm>
          <a:prstGeom prst="rect">
            <a:avLst/>
          </a:prstGeom>
        </p:spPr>
      </p:pic>
      <p:pic>
        <p:nvPicPr>
          <p:cNvPr id="6" name="Picture 5" descr="visual_element_slide_09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5" y="1762125"/>
            <a:ext cx="3881437" cy="2819400"/>
          </a:xfrm>
          <a:prstGeom prst="rect">
            <a:avLst/>
          </a:prstGeom>
        </p:spPr>
      </p:pic>
      <p:pic>
        <p:nvPicPr>
          <p:cNvPr id="7" name="Picture 6" descr="visual_element_slide_09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4062" y="1762125"/>
            <a:ext cx="3881437" cy="2819400"/>
          </a:xfrm>
          <a:prstGeom prst="rect">
            <a:avLst/>
          </a:prstGeom>
        </p:spPr>
      </p:pic>
      <p:pic>
        <p:nvPicPr>
          <p:cNvPr id="8" name="Picture 7" descr="visual_element_slide_09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5962650"/>
            <a:ext cx="13335000" cy="342900"/>
          </a:xfrm>
          <a:prstGeom prst="rect">
            <a:avLst/>
          </a:prstGeom>
        </p:spPr>
      </p:pic>
      <p:pic>
        <p:nvPicPr>
          <p:cNvPr id="9" name="Picture 8" descr="visual_element_slide_09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6457950"/>
            <a:ext cx="13335000" cy="342900"/>
          </a:xfrm>
          <a:prstGeom prst="rect">
            <a:avLst/>
          </a:prstGeom>
        </p:spPr>
      </p:pic>
      <p:pic>
        <p:nvPicPr>
          <p:cNvPr id="10" name="Picture 9" descr="visual_element_slide_09_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5962650"/>
            <a:ext cx="11334750" cy="342900"/>
          </a:xfrm>
          <a:prstGeom prst="rect">
            <a:avLst/>
          </a:prstGeom>
        </p:spPr>
      </p:pic>
      <p:pic>
        <p:nvPicPr>
          <p:cNvPr id="11" name="Picture 10" descr="visual_element_slide_09_0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0" y="6457950"/>
            <a:ext cx="4667250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523874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88"/>
                </a:solidFill>
                <a:latin typeface="Inter"/>
              </a:defRPr>
            </a:pPr>
            <a:r>
              <a:t>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790575"/>
            <a:ext cx="54006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Inter"/>
              </a:defRPr>
            </a:pPr>
            <a:r>
              <a:t>MTTR Reduction &amp;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3125" y="790575"/>
            <a:ext cx="51720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FF88"/>
                </a:solidFill>
                <a:latin typeface="Inter"/>
              </a:defRPr>
            </a:pPr>
            <a:r>
              <a:t>Operational Gains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7468" y="2114550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4656" y="2114550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1843" y="2114550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09031" y="2114550"/>
            <a:ext cx="9525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0000"/>
                </a:solidFill>
                <a:latin typeface="Inter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9781" y="2828925"/>
            <a:ext cx="2066924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FF88"/>
                </a:solidFill>
                <a:latin typeface="Inter"/>
              </a:defRPr>
            </a:pPr>
            <a:r>
              <a:t>~60%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7943" y="2828925"/>
            <a:ext cx="170497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D4FF"/>
                </a:solidFill>
                <a:latin typeface="Inter"/>
              </a:defRPr>
            </a:pPr>
            <a:r>
              <a:t>&lt;10s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1306" y="2828925"/>
            <a:ext cx="1952624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7DC6F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04567" y="2828925"/>
            <a:ext cx="780288" cy="647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A855F7"/>
                </a:solidFill>
                <a:latin typeface="Inter"/>
              </a:defRPr>
            </a:pPr>
            <a:r>
              <a:t>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7893" y="3552825"/>
            <a:ext cx="17716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MTTR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1731" y="3552825"/>
            <a:ext cx="2038349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Time to First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956" y="3552825"/>
            <a:ext cx="220027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Knowledge Utilization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2768" y="3552825"/>
            <a:ext cx="21050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Continuous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4918" y="3848099"/>
            <a:ext cx="36576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Engineers start with pre-analyzed context instead of searching from scratch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5456" y="3848099"/>
            <a:ext cx="33909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AI delivers triage + resolution suggestions within seconds of INC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506" y="3848099"/>
            <a:ext cx="33051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Every runbook, SOP, and historical resolution is instantly accessible — nothing gets missed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32693" y="3848099"/>
            <a:ext cx="33051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Each resolved incident improves future triage accuracy — the system gets smarter over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5524500"/>
            <a:ext cx="61722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Inter"/>
              </a:defRPr>
            </a:pPr>
            <a:r>
              <a:t>Incident Response Time — Before vs. After AI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4550" y="60388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Without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053137"/>
            <a:ext cx="26860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4D6D"/>
                </a:solidFill>
                <a:latin typeface="Inter"/>
              </a:defRPr>
            </a:pPr>
            <a:r>
              <a:t>Manual search + context gathering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73500" y="6038850"/>
            <a:ext cx="10001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4D6D"/>
                </a:solidFill>
                <a:latin typeface="Inter"/>
              </a:defRPr>
            </a:pPr>
            <a:r>
              <a:t>~45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6425" y="6534150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Inter"/>
              </a:defRPr>
            </a:pPr>
            <a:r>
              <a:t>With AI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548437"/>
            <a:ext cx="25050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00FF88"/>
                </a:solidFill>
                <a:latin typeface="Inter"/>
              </a:defRPr>
            </a:pPr>
            <a:r>
              <a:t>Pre-analyzed, guided resolution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573500" y="6534150"/>
            <a:ext cx="962024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Inter"/>
              </a:defRPr>
            </a:pPr>
            <a:r>
              <a:t>~15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278350" y="983932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0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905000"/>
            <a:ext cx="5715000" cy="5715000"/>
          </a:xfrm>
          <a:prstGeom prst="rect">
            <a:avLst/>
          </a:prstGeom>
        </p:spPr>
      </p:pic>
      <p:pic>
        <p:nvPicPr>
          <p:cNvPr id="4" name="Picture 3" descr="visual_element_slide_10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6477000"/>
            <a:ext cx="4762500" cy="4762500"/>
          </a:xfrm>
          <a:prstGeom prst="rect">
            <a:avLst/>
          </a:prstGeom>
        </p:spPr>
      </p:pic>
      <p:pic>
        <p:nvPicPr>
          <p:cNvPr id="5" name="Picture 4" descr="visual_element_slide_10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3657600"/>
            <a:ext cx="7810499" cy="1181100"/>
          </a:xfrm>
          <a:prstGeom prst="rect">
            <a:avLst/>
          </a:prstGeom>
        </p:spPr>
      </p:pic>
      <p:pic>
        <p:nvPicPr>
          <p:cNvPr id="6" name="Picture 5" descr="visual_element_slide_10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838700"/>
            <a:ext cx="7810499" cy="1181100"/>
          </a:xfrm>
          <a:prstGeom prst="rect">
            <a:avLst/>
          </a:prstGeom>
        </p:spPr>
      </p:pic>
      <p:pic>
        <p:nvPicPr>
          <p:cNvPr id="7" name="Picture 6" descr="visual_element_slide_10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6596824"/>
            <a:ext cx="6667500" cy="638175"/>
          </a:xfrm>
          <a:prstGeom prst="rect">
            <a:avLst/>
          </a:prstGeom>
        </p:spPr>
      </p:pic>
      <p:pic>
        <p:nvPicPr>
          <p:cNvPr id="8" name="Picture 7" descr="visual_element_slide_10_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7368349"/>
            <a:ext cx="6667500" cy="638175"/>
          </a:xfrm>
          <a:prstGeom prst="rect">
            <a:avLst/>
          </a:prstGeom>
        </p:spPr>
      </p:pic>
      <p:pic>
        <p:nvPicPr>
          <p:cNvPr id="9" name="Picture 8" descr="visual_element_slide_10_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8139874"/>
            <a:ext cx="6667500" cy="638175"/>
          </a:xfrm>
          <a:prstGeom prst="rect">
            <a:avLst/>
          </a:prstGeom>
        </p:spPr>
      </p:pic>
      <p:pic>
        <p:nvPicPr>
          <p:cNvPr id="10" name="Picture 9" descr="visual_element_slide_10_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0" y="3905249"/>
            <a:ext cx="952500" cy="276225"/>
          </a:xfrm>
          <a:prstGeom prst="rect">
            <a:avLst/>
          </a:prstGeom>
        </p:spPr>
      </p:pic>
      <p:pic>
        <p:nvPicPr>
          <p:cNvPr id="11" name="Picture 10" descr="visual_element_slide_10_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5086350"/>
            <a:ext cx="952500" cy="276225"/>
          </a:xfrm>
          <a:prstGeom prst="rect">
            <a:avLst/>
          </a:prstGeom>
        </p:spPr>
      </p:pic>
      <p:pic>
        <p:nvPicPr>
          <p:cNvPr id="12" name="Picture 11" descr="visual_element_slide_10_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6267450"/>
            <a:ext cx="9525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2500" y="150885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D4FF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1794605"/>
            <a:ext cx="332422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FFFFFF"/>
                </a:solidFill>
                <a:latin typeface="Inter"/>
              </a:defRPr>
            </a:pPr>
            <a:r>
              <a:t>Ready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2474595"/>
            <a:ext cx="3905249" cy="781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00D4FF"/>
                </a:solidFill>
                <a:latin typeface="Inter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3095625"/>
            <a:ext cx="21050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FFFFFF"/>
                </a:solidFill>
                <a:latin typeface="Inter"/>
              </a:defRPr>
            </a:pPr>
            <a:r>
              <a:t>📍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154584"/>
            <a:ext cx="313372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FFFFFF"/>
                </a:solidFill>
                <a:latin typeface="Inter"/>
              </a:defRPr>
            </a:pPr>
            <a: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06100" y="3886200"/>
            <a:ext cx="32861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Multi-Format Q&amp;A with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4087" y="39719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Inter"/>
              </a:defRPr>
            </a:pPr>
            <a:r>
              <a:t>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215574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Inter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650" y="4215574"/>
            <a:ext cx="153352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Inter"/>
              </a:defRPr>
            </a:pPr>
            <a:r>
              <a:t>100%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3175" y="4215574"/>
            <a:ext cx="47244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— zero data exposure, fully air-gapped, compliant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6100" y="4181475"/>
            <a:ext cx="6877050" cy="3952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PDF, Word, Markdown ingestion. Offline chat interface. Document upload from browser. Source citations on every answer.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4682299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4682299"/>
            <a:ext cx="16192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Inter"/>
              </a:defRPr>
            </a:pPr>
            <a:r>
              <a:t>RAG-Powered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900" y="4682299"/>
            <a:ext cx="48672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— grounded answers from your own 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06100" y="5067300"/>
            <a:ext cx="43624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Multi-Turn Conversations + Access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5149024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Inter"/>
              </a:defRPr>
            </a:pPr>
            <a:r>
              <a:t>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5149024"/>
            <a:ext cx="18097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Inter"/>
              </a:defRPr>
            </a:pPr>
            <a:r>
              <a:t>Faster Incidents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9400" y="5149024"/>
            <a:ext cx="3876674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— pre-analysis reduces MTTR by ~60%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5037" y="5153025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D4FF"/>
                </a:solidFill>
                <a:latin typeface="Inter"/>
              </a:defRPr>
            </a:pPr>
            <a: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06100" y="5362575"/>
            <a:ext cx="6667500" cy="3952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Follow-up questions with context. Role-based access control. Human escalation rules. Auto-detection of doc updates.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" y="5615749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Inter"/>
              </a:defRPr>
            </a:pPr>
            <a:r>
              <a:t>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0650" y="5615749"/>
            <a:ext cx="5676900" cy="4905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FFFFFF"/>
                </a:solidFill>
                <a:latin typeface="Inter"/>
              </a:defRPr>
            </a:pPr>
            <a:r>
              <a:t>— auto-triage, resolution suggestions, SR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0650" y="5615749"/>
            <a:ext cx="210502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Inter"/>
              </a:defRPr>
            </a:pPr>
            <a:r>
              <a:t>Remedy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06100" y="6248400"/>
            <a:ext cx="36290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Inter"/>
              </a:defRPr>
            </a:pPr>
            <a:r>
              <a:t>Remedy AO-Dashboard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4075" y="6334125"/>
            <a:ext cx="89535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7DC6F"/>
                </a:solidFill>
                <a:latin typeface="Inter"/>
              </a:defRPr>
            </a:pPr>
            <a:r>
              <a:t>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06100" y="6543675"/>
            <a:ext cx="6867525" cy="3952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FFFFFF"/>
                </a:solidFill>
                <a:latin typeface="Inter"/>
              </a:defRPr>
            </a:pPr>
            <a:r>
              <a:t>Auto-triage INCs, suggest resolutions from historical tickets, reduce MTTR, accelerate incident response across all services.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0625" y="6777799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8775" y="6815899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Request a pilot with on-call engineers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0625" y="7549324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8775" y="7587424"/>
            <a:ext cx="37147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Share compute to reduce response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0625" y="8320849"/>
            <a:ext cx="666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8775" y="8358949"/>
            <a:ext cx="36957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Inter"/>
              </a:defRPr>
            </a:pPr>
            <a:r>
              <a:t>Provide feedback to shape the roadmap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06925" y="9934575"/>
            <a:ext cx="9144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FFFFFF"/>
                </a:solidFill>
                <a:latin typeface="Inter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